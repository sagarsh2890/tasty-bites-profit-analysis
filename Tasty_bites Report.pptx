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1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1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0A4A29F-8770-40F4-98FA-B72FE00DB726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740C2CAD-72F4-4A71-A349-F9AE627190A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254485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4A29F-8770-40F4-98FA-B72FE00DB726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2CAD-72F4-4A71-A349-F9AE6271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478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4A29F-8770-40F4-98FA-B72FE00DB726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2CAD-72F4-4A71-A349-F9AE627190A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92644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4A29F-8770-40F4-98FA-B72FE00DB726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2CAD-72F4-4A71-A349-F9AE6271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527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4A29F-8770-40F4-98FA-B72FE00DB726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2CAD-72F4-4A71-A349-F9AE6271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05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4A29F-8770-40F4-98FA-B72FE00DB726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2CAD-72F4-4A71-A349-F9AE6271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50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4A29F-8770-40F4-98FA-B72FE00DB726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2CAD-72F4-4A71-A349-F9AE6271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92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4A29F-8770-40F4-98FA-B72FE00DB726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2CAD-72F4-4A71-A349-F9AE6271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59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4A29F-8770-40F4-98FA-B72FE00DB726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2CAD-72F4-4A71-A349-F9AE6271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805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4A29F-8770-40F4-98FA-B72FE00DB726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2CAD-72F4-4A71-A349-F9AE6271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75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4A29F-8770-40F4-98FA-B72FE00DB726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2CAD-72F4-4A71-A349-F9AE6271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46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70A4A29F-8770-40F4-98FA-B72FE00DB726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740C2CAD-72F4-4A71-A349-F9AE6271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00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CB472-315C-4D61-BC7F-1EA076CBB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35450"/>
          </a:xfrm>
        </p:spPr>
        <p:txBody>
          <a:bodyPr>
            <a:normAutofit/>
          </a:bodyPr>
          <a:lstStyle/>
          <a:p>
            <a:pPr algn="ctr"/>
            <a:br>
              <a:rPr lang="en-GB" dirty="0"/>
            </a:br>
            <a:r>
              <a:rPr lang="en-GB" dirty="0"/>
              <a:t>Tasty Bites Product Pricing </a:t>
            </a:r>
            <a:br>
              <a:rPr lang="en-GB" dirty="0"/>
            </a:br>
            <a:r>
              <a:rPr lang="en-GB" dirty="0"/>
              <a:t>&amp; </a:t>
            </a:r>
            <a:br>
              <a:rPr lang="en-GB" dirty="0"/>
            </a:br>
            <a:r>
              <a:rPr lang="en-GB" dirty="0"/>
              <a:t>Profitability Analysis</a:t>
            </a:r>
            <a:br>
              <a:rPr lang="en-GB" dirty="0"/>
            </a:br>
            <a:r>
              <a:rPr lang="en-GB" dirty="0"/>
              <a:t>Report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136E-7D63-463C-8866-61B7E4D33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9224" y="3200400"/>
            <a:ext cx="9934575" cy="3390899"/>
          </a:xfrm>
        </p:spPr>
        <p:txBody>
          <a:bodyPr>
            <a:normAutofit/>
          </a:bodyPr>
          <a:lstStyle/>
          <a:p>
            <a:endParaRPr lang="en-GB" dirty="0"/>
          </a:p>
          <a:p>
            <a:pPr marL="0" indent="0">
              <a:buNone/>
            </a:pPr>
            <a:r>
              <a:rPr lang="en-GB" dirty="0"/>
              <a:t>                               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000" dirty="0"/>
              <a:t>                                    P</a:t>
            </a:r>
            <a:r>
              <a:rPr lang="en-US" sz="2000" dirty="0" err="1"/>
              <a:t>repared</a:t>
            </a:r>
            <a:r>
              <a:rPr lang="en-US" sz="2000" dirty="0"/>
              <a:t> by – </a:t>
            </a:r>
            <a:r>
              <a:rPr lang="en-US" sz="2000" b="1" dirty="0"/>
              <a:t>Sagar Sharma</a:t>
            </a:r>
          </a:p>
        </p:txBody>
      </p:sp>
    </p:spTree>
    <p:extLst>
      <p:ext uri="{BB962C8B-B14F-4D97-AF65-F5344CB8AC3E}">
        <p14:creationId xmlns:p14="http://schemas.microsoft.com/office/powerpoint/2010/main" val="729551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AB4EA8-59C7-48C3-BE59-AB4204C1E8D9}"/>
              </a:ext>
            </a:extLst>
          </p:cNvPr>
          <p:cNvSpPr/>
          <p:nvPr/>
        </p:nvSpPr>
        <p:spPr>
          <a:xfrm>
            <a:off x="1790699" y="612845"/>
            <a:ext cx="8620125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Introduction &amp; Business Context</a:t>
            </a:r>
          </a:p>
          <a:p>
            <a:endParaRPr lang="en-GB" sz="2800" b="1" dirty="0"/>
          </a:p>
          <a:p>
            <a:r>
              <a:rPr lang="en-GB" b="1" dirty="0"/>
              <a:t>Company:</a:t>
            </a:r>
            <a:r>
              <a:rPr lang="en-GB" dirty="0"/>
              <a:t> Tasty Bites – a multi-city online food delivery platform</a:t>
            </a:r>
            <a:br>
              <a:rPr lang="en-GB" dirty="0"/>
            </a:br>
            <a:r>
              <a:rPr lang="en-GB" b="1" dirty="0"/>
              <a:t>Role:</a:t>
            </a:r>
            <a:r>
              <a:rPr lang="en-GB" dirty="0"/>
              <a:t> Data Analyst</a:t>
            </a:r>
            <a:br>
              <a:rPr lang="en-GB" dirty="0"/>
            </a:br>
            <a:r>
              <a:rPr lang="en-GB" b="1" dirty="0"/>
              <a:t>Goal:</a:t>
            </a:r>
            <a:r>
              <a:rPr lang="en-GB" dirty="0"/>
              <a:t> Improve product-level profitability without losing customers.</a:t>
            </a:r>
          </a:p>
          <a:p>
            <a:endParaRPr lang="en-GB" dirty="0"/>
          </a:p>
          <a:p>
            <a:r>
              <a:rPr lang="en-GB" b="1" dirty="0"/>
              <a:t>Business Background</a:t>
            </a:r>
          </a:p>
          <a:p>
            <a:r>
              <a:rPr lang="en-GB" dirty="0"/>
              <a:t>Tasty Bites noticed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Some products have </a:t>
            </a:r>
            <a:r>
              <a:rPr lang="en-GB" b="1" dirty="0"/>
              <a:t>high sales but low profit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Some products generate </a:t>
            </a:r>
            <a:r>
              <a:rPr lang="en-GB" b="1" dirty="0"/>
              <a:t>major profit despite moderate sales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Discount-heavy categories reduce total profit</a:t>
            </a:r>
            <a:br>
              <a:rPr lang="en-GB" dirty="0"/>
            </a:br>
            <a:r>
              <a:rPr lang="en-GB" dirty="0"/>
              <a:t>  Management wants to optimize pricing, discounting, and promotions.</a:t>
            </a:r>
          </a:p>
          <a:p>
            <a:endParaRPr lang="en-GB" dirty="0"/>
          </a:p>
          <a:p>
            <a:r>
              <a:rPr lang="en-GB" b="1" dirty="0"/>
              <a:t>Objective of the Study</a:t>
            </a:r>
          </a:p>
          <a:p>
            <a:r>
              <a:rPr lang="en-GB" dirty="0"/>
              <a:t>This analysis aims to:</a:t>
            </a:r>
          </a:p>
          <a:p>
            <a:pPr>
              <a:buFont typeface="+mj-lt"/>
              <a:buAutoNum type="arabicPeriod"/>
            </a:pPr>
            <a:r>
              <a:rPr lang="en-GB" dirty="0"/>
              <a:t>  Identify </a:t>
            </a:r>
            <a:r>
              <a:rPr lang="en-GB" b="1" dirty="0"/>
              <a:t>high-profit</a:t>
            </a:r>
            <a:r>
              <a:rPr lang="en-GB" dirty="0"/>
              <a:t> and </a:t>
            </a:r>
            <a:r>
              <a:rPr lang="en-GB" b="1" dirty="0"/>
              <a:t>low-profit</a:t>
            </a:r>
            <a:r>
              <a:rPr lang="en-GB" dirty="0"/>
              <a:t> products</a:t>
            </a:r>
          </a:p>
          <a:p>
            <a:pPr>
              <a:buFont typeface="+mj-lt"/>
              <a:buAutoNum type="arabicPeriod"/>
            </a:pPr>
            <a:r>
              <a:rPr lang="en-GB" dirty="0"/>
              <a:t>  Compare </a:t>
            </a:r>
            <a:r>
              <a:rPr lang="en-GB" b="1" dirty="0"/>
              <a:t>revenue vs profit</a:t>
            </a:r>
            <a:r>
              <a:rPr lang="en-GB" dirty="0"/>
              <a:t> by product and category</a:t>
            </a:r>
          </a:p>
          <a:p>
            <a:pPr>
              <a:buFont typeface="+mj-lt"/>
              <a:buAutoNum type="arabicPeriod"/>
            </a:pPr>
            <a:r>
              <a:rPr lang="en-GB" dirty="0"/>
              <a:t>  Understand the </a:t>
            </a:r>
            <a:r>
              <a:rPr lang="en-GB" b="1" dirty="0"/>
              <a:t>impact of discounts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  Find opportunities for </a:t>
            </a:r>
            <a:r>
              <a:rPr lang="en-GB" b="1" dirty="0"/>
              <a:t>price adjustments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  Recommend </a:t>
            </a:r>
            <a:r>
              <a:rPr lang="en-GB" b="1" dirty="0"/>
              <a:t>product, category, and promotion strategies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8420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4FF533-359C-4056-9F73-51FB209A2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92" y="156706"/>
            <a:ext cx="10317015" cy="654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77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C08D2C-01F1-4211-A390-95CCF41C2567}"/>
              </a:ext>
            </a:extLst>
          </p:cNvPr>
          <p:cNvSpPr/>
          <p:nvPr/>
        </p:nvSpPr>
        <p:spPr>
          <a:xfrm>
            <a:off x="1876425" y="361950"/>
            <a:ext cx="853440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Key Performance Indicators (KPIs)</a:t>
            </a:r>
          </a:p>
          <a:p>
            <a:pPr algn="ctr"/>
            <a:endParaRPr lang="en-GB" sz="2800" b="1" dirty="0"/>
          </a:p>
          <a:p>
            <a:r>
              <a:rPr lang="en-GB" dirty="0"/>
              <a:t>The KPI cards on the dashboard show:</a:t>
            </a:r>
          </a:p>
          <a:p>
            <a:endParaRPr lang="en-GB" dirty="0"/>
          </a:p>
          <a:p>
            <a:r>
              <a:rPr lang="en-GB" b="1" dirty="0"/>
              <a:t>Total Revenue: 18K</a:t>
            </a:r>
          </a:p>
          <a:p>
            <a:r>
              <a:rPr lang="en-GB" dirty="0"/>
              <a:t>This is the sum of all sales generated from the selected period.</a:t>
            </a:r>
          </a:p>
          <a:p>
            <a:endParaRPr lang="en-GB" dirty="0"/>
          </a:p>
          <a:p>
            <a:r>
              <a:rPr lang="en-GB" b="1" dirty="0"/>
              <a:t>Total Profit: 12K</a:t>
            </a:r>
          </a:p>
          <a:p>
            <a:r>
              <a:rPr lang="en-GB" dirty="0"/>
              <a:t>This shows the earnings after subtracting product cost.</a:t>
            </a:r>
          </a:p>
          <a:p>
            <a:endParaRPr lang="en-GB" dirty="0"/>
          </a:p>
          <a:p>
            <a:r>
              <a:rPr lang="en-GB" b="1" dirty="0"/>
              <a:t>Average Order Value (AOV): 263.33</a:t>
            </a:r>
          </a:p>
          <a:p>
            <a:r>
              <a:rPr lang="en-GB" dirty="0"/>
              <a:t>Customers spend an average of ₹263 per order.</a:t>
            </a:r>
          </a:p>
          <a:p>
            <a:endParaRPr lang="en-GB" dirty="0"/>
          </a:p>
          <a:p>
            <a:r>
              <a:rPr lang="en-GB" b="1" dirty="0"/>
              <a:t>Average Profit per Order: 164.33</a:t>
            </a:r>
          </a:p>
          <a:p>
            <a:r>
              <a:rPr lang="en-GB" dirty="0"/>
              <a:t>Shows the average profitability per order.</a:t>
            </a:r>
          </a:p>
          <a:p>
            <a:endParaRPr lang="en-GB" dirty="0"/>
          </a:p>
          <a:p>
            <a:r>
              <a:rPr lang="en-GB" b="1" dirty="0"/>
              <a:t>Total Units Sold: 107</a:t>
            </a:r>
          </a:p>
          <a:p>
            <a:r>
              <a:rPr lang="en-GB" dirty="0"/>
              <a:t>Overall volume of items sold.</a:t>
            </a:r>
          </a:p>
          <a:p>
            <a:endParaRPr lang="en-GB" dirty="0"/>
          </a:p>
          <a:p>
            <a:r>
              <a:rPr lang="en-GB" b="1" dirty="0"/>
              <a:t>Total Orders: 72K</a:t>
            </a:r>
          </a:p>
          <a:p>
            <a:r>
              <a:rPr lang="en-GB" dirty="0"/>
              <a:t>Indicates total order count during the period.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0879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12198F-BF64-4DF9-B1A6-4F117BAB2E3A}"/>
              </a:ext>
            </a:extLst>
          </p:cNvPr>
          <p:cNvSpPr/>
          <p:nvPr/>
        </p:nvSpPr>
        <p:spPr>
          <a:xfrm>
            <a:off x="850900" y="479425"/>
            <a:ext cx="989012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Product-Level Profitability Analysis</a:t>
            </a:r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Profit by Product (Bar Chart)</a:t>
            </a:r>
          </a:p>
          <a:p>
            <a:r>
              <a:rPr lang="en-GB" dirty="0"/>
              <a:t>Insights from the dashboard chart:</a:t>
            </a:r>
          </a:p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Veg Burger, Margherita Pizza, and Grilled Sandwich</a:t>
            </a:r>
            <a:r>
              <a:rPr lang="en-GB" dirty="0"/>
              <a:t> are the </a:t>
            </a:r>
            <a:r>
              <a:rPr lang="en-GB" b="1" dirty="0"/>
              <a:t>top profit drivers   profit between 1.5K–1.8K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French Fries, Cold Coffee, Chicken Burger</a:t>
            </a:r>
            <a:r>
              <a:rPr lang="en-GB" dirty="0"/>
              <a:t> contribute moderate 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Chocolate Cake and Mango Shake</a:t>
            </a:r>
            <a:r>
              <a:rPr lang="en-GB" dirty="0"/>
              <a:t> are the </a:t>
            </a:r>
            <a:r>
              <a:rPr lang="en-GB" b="1" dirty="0"/>
              <a:t>lowest-profit products</a:t>
            </a:r>
            <a:r>
              <a:rPr lang="en-GB" dirty="0"/>
              <a:t> (below 1K)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Key Observation</a:t>
            </a:r>
          </a:p>
          <a:p>
            <a:r>
              <a:rPr lang="en-GB" dirty="0"/>
              <a:t>Some products have high sales but </a:t>
            </a:r>
            <a:r>
              <a:rPr lang="en-GB" b="1" dirty="0"/>
              <a:t>low profitability</a:t>
            </a:r>
            <a:r>
              <a:rPr lang="en-GB" dirty="0"/>
              <a:t>,</a:t>
            </a:r>
          </a:p>
          <a:p>
            <a:r>
              <a:rPr lang="en-GB" dirty="0"/>
              <a:t> indicating: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 discount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Inefficient pricing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These products should be reviewed for price optimization.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E4BCE5-1442-4010-8D6E-961A001F6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918" y="3587990"/>
            <a:ext cx="4039164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541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37733D-DCAF-487B-9A08-62076609EC4E}"/>
              </a:ext>
            </a:extLst>
          </p:cNvPr>
          <p:cNvSpPr/>
          <p:nvPr/>
        </p:nvSpPr>
        <p:spPr>
          <a:xfrm>
            <a:off x="596900" y="571500"/>
            <a:ext cx="8458201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Category-Level Analysis</a:t>
            </a:r>
          </a:p>
          <a:p>
            <a:pPr algn="ctr"/>
            <a:endParaRPr lang="en-GB" sz="2800" b="1" dirty="0"/>
          </a:p>
          <a:p>
            <a:r>
              <a:rPr lang="en-GB" b="1" dirty="0"/>
              <a:t>Discount Impact by Category (Horizontal Bar Chart)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Beverages</a:t>
            </a:r>
            <a:r>
              <a:rPr lang="en-GB" dirty="0"/>
              <a:t> face the highest discount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Fast Food</a:t>
            </a:r>
            <a:r>
              <a:rPr lang="en-GB" dirty="0"/>
              <a:t> also shows significant profit loss due to discounts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Snacks</a:t>
            </a:r>
            <a:r>
              <a:rPr lang="en-GB" dirty="0"/>
              <a:t> have minimal discount usage</a:t>
            </a:r>
          </a:p>
          <a:p>
            <a:endParaRPr lang="en-GB" dirty="0"/>
          </a:p>
          <a:p>
            <a:r>
              <a:rPr lang="en-GB" b="1" dirty="0"/>
              <a:t>Category-wise Profit (Donut Chart)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Fast Food</a:t>
            </a:r>
            <a:r>
              <a:rPr lang="en-GB" dirty="0"/>
              <a:t> contributes the highest share to total 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Main Course</a:t>
            </a:r>
            <a:r>
              <a:rPr lang="en-GB" dirty="0"/>
              <a:t> and </a:t>
            </a:r>
            <a:r>
              <a:rPr lang="en-GB" b="1" dirty="0"/>
              <a:t>Dessert</a:t>
            </a:r>
            <a:r>
              <a:rPr lang="en-GB" dirty="0"/>
              <a:t> categories contribute moderately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Snacks</a:t>
            </a:r>
            <a:r>
              <a:rPr lang="en-GB" dirty="0"/>
              <a:t> and </a:t>
            </a:r>
            <a:r>
              <a:rPr lang="en-GB" b="1" dirty="0"/>
              <a:t>Beverages</a:t>
            </a:r>
            <a:r>
              <a:rPr lang="en-GB" dirty="0"/>
              <a:t> contribute the least percentage to </a:t>
            </a:r>
          </a:p>
          <a:p>
            <a:r>
              <a:rPr lang="en-GB" dirty="0"/>
              <a:t>total profit</a:t>
            </a:r>
          </a:p>
          <a:p>
            <a:endParaRPr lang="en-GB" dirty="0"/>
          </a:p>
          <a:p>
            <a:r>
              <a:rPr lang="en-GB" b="1" dirty="0"/>
              <a:t>Key 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Discount-heavy categories (like beverages) reduce</a:t>
            </a:r>
          </a:p>
          <a:p>
            <a:r>
              <a:rPr lang="en-GB" dirty="0"/>
              <a:t> overall profitability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Fast Food is the backbone of Tasty Bites profit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2AB8D0-02B0-4EAA-BF46-36709559F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971" y="1075997"/>
            <a:ext cx="3820058" cy="2353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EF14AA-32E6-48DB-B0DC-0C2F5C0FD6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971" y="3514737"/>
            <a:ext cx="3820058" cy="235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677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1B5DA0-884F-483A-8397-03EB225CA3D2}"/>
              </a:ext>
            </a:extLst>
          </p:cNvPr>
          <p:cNvSpPr/>
          <p:nvPr/>
        </p:nvSpPr>
        <p:spPr>
          <a:xfrm>
            <a:off x="787401" y="850900"/>
            <a:ext cx="9204324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Revenue Analysis</a:t>
            </a:r>
          </a:p>
          <a:p>
            <a:pPr algn="ctr"/>
            <a:endParaRPr lang="en-GB" sz="2800" b="1" dirty="0"/>
          </a:p>
          <a:p>
            <a:r>
              <a:rPr lang="en-GB" b="1" dirty="0"/>
              <a:t>Revenue by Product (Bar Chart)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Margherita Pizza and Veg Burger</a:t>
            </a:r>
            <a:r>
              <a:rPr lang="en-GB" dirty="0"/>
              <a:t> generate the </a:t>
            </a:r>
            <a:r>
              <a:rPr lang="en-GB" b="1" dirty="0"/>
              <a:t>highest </a:t>
            </a:r>
          </a:p>
          <a:p>
            <a:r>
              <a:rPr lang="en-GB" b="1" dirty="0"/>
              <a:t> revenue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Cold Coffee</a:t>
            </a:r>
            <a:r>
              <a:rPr lang="en-GB" dirty="0"/>
              <a:t>, </a:t>
            </a:r>
            <a:r>
              <a:rPr lang="en-GB" b="1" dirty="0"/>
              <a:t>French Fries</a:t>
            </a:r>
            <a:r>
              <a:rPr lang="en-GB" dirty="0"/>
              <a:t>, </a:t>
            </a:r>
            <a:r>
              <a:rPr lang="en-GB" b="1" dirty="0"/>
              <a:t>Chocolate Cake</a:t>
            </a:r>
            <a:r>
              <a:rPr lang="en-GB" dirty="0"/>
              <a:t> generate</a:t>
            </a:r>
          </a:p>
          <a:p>
            <a:r>
              <a:rPr lang="en-GB" dirty="0"/>
              <a:t> moderate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Mango Shake</a:t>
            </a:r>
            <a:r>
              <a:rPr lang="en-GB" dirty="0"/>
              <a:t> contributes the least revenue</a:t>
            </a:r>
          </a:p>
          <a:p>
            <a:endParaRPr lang="en-GB" dirty="0"/>
          </a:p>
          <a:p>
            <a:r>
              <a:rPr lang="en-GB" b="1" dirty="0"/>
              <a:t>Revenue vs Profit Insight</a:t>
            </a:r>
          </a:p>
          <a:p>
            <a:r>
              <a:rPr lang="en-GB" dirty="0"/>
              <a:t>Some products show </a:t>
            </a:r>
            <a:r>
              <a:rPr lang="en-GB" b="1" dirty="0"/>
              <a:t>high revenue but low profit</a:t>
            </a:r>
            <a:r>
              <a:rPr lang="en-GB" dirty="0"/>
              <a:t>,</a:t>
            </a:r>
          </a:p>
          <a:p>
            <a:r>
              <a:rPr lang="en-GB" dirty="0"/>
              <a:t> which signals: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 cost of ingredients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Low pricing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Overuse of discounts</a:t>
            </a:r>
          </a:p>
          <a:p>
            <a:br>
              <a:rPr lang="en-GB" dirty="0"/>
            </a:br>
            <a:r>
              <a:rPr lang="en-GB" dirty="0"/>
              <a:t>These are ideal items for pricing review.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450BA8-F882-45A0-80C8-893C4DB08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201" y="1435100"/>
            <a:ext cx="3784860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70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AF1331-1BF1-4FB9-A240-170C2B5C359C}"/>
              </a:ext>
            </a:extLst>
          </p:cNvPr>
          <p:cNvSpPr/>
          <p:nvPr/>
        </p:nvSpPr>
        <p:spPr>
          <a:xfrm>
            <a:off x="2114550" y="742950"/>
            <a:ext cx="7029450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Insights &amp; Findings</a:t>
            </a:r>
          </a:p>
          <a:p>
            <a:pPr algn="ctr"/>
            <a:endParaRPr lang="en-GB" sz="2800" b="1" dirty="0"/>
          </a:p>
          <a:p>
            <a:r>
              <a:rPr lang="en-GB" b="1" dirty="0"/>
              <a:t>1. High-Profit Products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Veg Burger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Margherita Pizza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Grilled Sandwich</a:t>
            </a:r>
          </a:p>
          <a:p>
            <a:br>
              <a:rPr lang="en-GB" dirty="0"/>
            </a:br>
            <a:r>
              <a:rPr lang="en-GB" dirty="0"/>
              <a:t>These products should be promoted more or bundled for additional sales.</a:t>
            </a:r>
          </a:p>
          <a:p>
            <a:endParaRPr lang="en-GB" dirty="0"/>
          </a:p>
          <a:p>
            <a:r>
              <a:rPr lang="en-GB" b="1" dirty="0"/>
              <a:t>2. Low-Profit Products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Mango Shake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Chocolate Cake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Cold Coffee</a:t>
            </a:r>
          </a:p>
          <a:p>
            <a:br>
              <a:rPr lang="en-GB" dirty="0"/>
            </a:br>
            <a:r>
              <a:rPr lang="en-GB" dirty="0"/>
              <a:t>Possible reasons: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 cost ingredients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Low pricing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 discount impact</a:t>
            </a:r>
          </a:p>
        </p:txBody>
      </p:sp>
    </p:spTree>
    <p:extLst>
      <p:ext uri="{BB962C8B-B14F-4D97-AF65-F5344CB8AC3E}">
        <p14:creationId xmlns:p14="http://schemas.microsoft.com/office/powerpoint/2010/main" val="2936869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C5FF6F-459B-4AB1-928E-11849001D4E3}"/>
              </a:ext>
            </a:extLst>
          </p:cNvPr>
          <p:cNvSpPr/>
          <p:nvPr/>
        </p:nvSpPr>
        <p:spPr>
          <a:xfrm>
            <a:off x="2266950" y="1276350"/>
            <a:ext cx="687705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3.Categories Losing Profit Due to Discounts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Beverages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Fast Food</a:t>
            </a:r>
          </a:p>
          <a:p>
            <a:endParaRPr lang="en-GB" dirty="0"/>
          </a:p>
          <a:p>
            <a:r>
              <a:rPr lang="en-GB" b="1" dirty="0"/>
              <a:t>4. High Revenue ≠ High Profit</a:t>
            </a:r>
          </a:p>
          <a:p>
            <a:r>
              <a:rPr lang="en-GB" dirty="0"/>
              <a:t>Several products generate good revenue but have poor margins.</a:t>
            </a:r>
          </a:p>
          <a:p>
            <a:endParaRPr lang="en-GB" dirty="0"/>
          </a:p>
          <a:p>
            <a:r>
              <a:rPr lang="en-GB" b="1" dirty="0"/>
              <a:t>5. Customer Behaviour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Returning customers often buy higher-margin items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New customers tend to buy discounted items more</a:t>
            </a:r>
          </a:p>
        </p:txBody>
      </p:sp>
    </p:spTree>
    <p:extLst>
      <p:ext uri="{BB962C8B-B14F-4D97-AF65-F5344CB8AC3E}">
        <p14:creationId xmlns:p14="http://schemas.microsoft.com/office/powerpoint/2010/main" val="3162088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738D71-2FE3-4A59-9B21-733C3A345C9F}"/>
              </a:ext>
            </a:extLst>
          </p:cNvPr>
          <p:cNvSpPr/>
          <p:nvPr/>
        </p:nvSpPr>
        <p:spPr>
          <a:xfrm>
            <a:off x="2247900" y="857250"/>
            <a:ext cx="6896100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Recommendations</a:t>
            </a:r>
          </a:p>
          <a:p>
            <a:pPr algn="ctr"/>
            <a:endParaRPr lang="en-GB" sz="2800" b="1" dirty="0"/>
          </a:p>
          <a:p>
            <a:r>
              <a:rPr lang="en-GB" b="1" dirty="0"/>
              <a:t>1. Pricing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  Increase prices of products with high demand but low profit</a:t>
            </a:r>
            <a:br>
              <a:rPr lang="en-GB" dirty="0"/>
            </a:br>
            <a:r>
              <a:rPr lang="en-GB" dirty="0"/>
              <a:t>     E.g., Cold Coffee, Chocolate Cake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  Keep price increases within </a:t>
            </a:r>
            <a:r>
              <a:rPr lang="en-GB" b="1" dirty="0"/>
              <a:t>10%</a:t>
            </a:r>
            <a:r>
              <a:rPr lang="en-GB" dirty="0"/>
              <a:t> due to customer sensitivity</a:t>
            </a:r>
          </a:p>
          <a:p>
            <a:endParaRPr lang="en-GB" dirty="0"/>
          </a:p>
          <a:p>
            <a:r>
              <a:rPr lang="en-GB" b="1" dirty="0"/>
              <a:t>2. Reduce Discounts on Beverages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  Beverages have the </a:t>
            </a:r>
            <a:r>
              <a:rPr lang="en-GB" b="1" dirty="0"/>
              <a:t>highest discount impact</a:t>
            </a:r>
            <a:r>
              <a:rPr lang="en-GB" dirty="0"/>
              <a:t> but low contribution to  profit</a:t>
            </a:r>
          </a:p>
          <a:p>
            <a:endParaRPr lang="en-GB" dirty="0"/>
          </a:p>
          <a:p>
            <a:r>
              <a:rPr lang="en-GB" b="1" dirty="0"/>
              <a:t>3. Push High-Profit Items</a:t>
            </a:r>
          </a:p>
          <a:p>
            <a:r>
              <a:rPr lang="en-GB" dirty="0"/>
              <a:t>    Promote Veg Burger, Grilled Sandwich through:</a:t>
            </a:r>
          </a:p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  Homepage placement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  Banners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  Combo offers</a:t>
            </a:r>
          </a:p>
        </p:txBody>
      </p:sp>
    </p:spTree>
    <p:extLst>
      <p:ext uri="{BB962C8B-B14F-4D97-AF65-F5344CB8AC3E}">
        <p14:creationId xmlns:p14="http://schemas.microsoft.com/office/powerpoint/2010/main" val="576313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52846-C464-4A3E-BE87-989D86F27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2170" y="758952"/>
            <a:ext cx="7458021" cy="3029277"/>
          </a:xfrm>
        </p:spPr>
        <p:txBody>
          <a:bodyPr/>
          <a:lstStyle/>
          <a:p>
            <a:r>
              <a:rPr lang="en-GB" dirty="0"/>
              <a:t>Thank You </a:t>
            </a:r>
            <a:r>
              <a:rPr lang="en-GB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280668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4173</TotalTime>
  <Words>658</Words>
  <Application>Microsoft Office PowerPoint</Application>
  <PresentationFormat>Widescreen</PresentationFormat>
  <Paragraphs>136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Schoolbook</vt:lpstr>
      <vt:lpstr>Wingdings</vt:lpstr>
      <vt:lpstr>Wingdings 2</vt:lpstr>
      <vt:lpstr>View</vt:lpstr>
      <vt:lpstr> Tasty Bites Product Pricing  &amp;  Profitability Analysis Report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11</cp:revision>
  <dcterms:created xsi:type="dcterms:W3CDTF">2025-12-09T14:22:50Z</dcterms:created>
  <dcterms:modified xsi:type="dcterms:W3CDTF">2026-01-02T06:54:37Z</dcterms:modified>
</cp:coreProperties>
</file>